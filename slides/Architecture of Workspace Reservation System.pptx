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notesMaster" Target="notesMasters/notesMaster1.xml"/><Relationship Id="rId19" Type="http://schemas.openxmlformats.org/officeDocument/2006/relationships/font" Target="fonts/RobotoMono-boldItalic.fntdata"/><Relationship Id="rId6" Type="http://schemas.openxmlformats.org/officeDocument/2006/relationships/slide" Target="slides/slide1.xml"/><Relationship Id="rId18"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687555c2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687555c2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687555c2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687555c2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687555c2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687555c2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87555c2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687555c2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687555c2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687555c2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687555c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687555c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687555c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687555c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687555c2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687555c2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687555c2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687555c2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Architecture</a:t>
            </a:r>
            <a:r>
              <a:rPr lang="en"/>
              <a:t> Of </a:t>
            </a:r>
            <a:r>
              <a:rPr lang="en"/>
              <a:t>Workspace Reservation System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In this project, we have tried to create an architecture for a workspace reservation system. In the following few slides, we will describe the architecture in a progressively more implementation-oriented fashion. First, we will discuss about the </a:t>
            </a:r>
            <a:r>
              <a:rPr lang="en"/>
              <a:t>use case</a:t>
            </a:r>
            <a:r>
              <a:rPr lang="en"/>
              <a:t> of the system using a use case diagram to understand the requirements. Then, we will see the activity diagram to understand the process. Then, to understand the logic and data relationship, we will look at the data flow diagram, ER diagram, and class diagram.</a:t>
            </a:r>
            <a:endParaRPr/>
          </a:p>
          <a:p>
            <a:pPr indent="0" lvl="0" marL="0" rtl="0" algn="l">
              <a:spcBef>
                <a:spcPts val="1200"/>
              </a:spcBef>
              <a:spcAft>
                <a:spcPts val="1200"/>
              </a:spcAft>
              <a:buNone/>
            </a:pPr>
            <a:r>
              <a:rPr lang="en"/>
              <a:t>Then, we will examine how all these connects to create the system using sequence diagram, and finally, we will learn about how to deploy the application for scaling and high availability.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 Diagram</a:t>
            </a:r>
            <a:endParaRPr/>
          </a:p>
        </p:txBody>
      </p:sp>
      <p:pic>
        <p:nvPicPr>
          <p:cNvPr id="66" name="Google Shape;66;p15" title="Use Case Diagram.drawio.png"/>
          <p:cNvPicPr preferRelativeResize="0"/>
          <p:nvPr/>
        </p:nvPicPr>
        <p:blipFill>
          <a:blip r:embed="rId3">
            <a:alphaModFix/>
          </a:blip>
          <a:stretch>
            <a:fillRect/>
          </a:stretch>
        </p:blipFill>
        <p:spPr>
          <a:xfrm>
            <a:off x="4097338" y="1108575"/>
            <a:ext cx="4734963" cy="3820975"/>
          </a:xfrm>
          <a:prstGeom prst="rect">
            <a:avLst/>
          </a:prstGeom>
          <a:noFill/>
          <a:ln>
            <a:noFill/>
          </a:ln>
        </p:spPr>
      </p:pic>
      <p:sp>
        <p:nvSpPr>
          <p:cNvPr id="67" name="Google Shape;67;p15"/>
          <p:cNvSpPr txBox="1"/>
          <p:nvPr/>
        </p:nvSpPr>
        <p:spPr>
          <a:xfrm>
            <a:off x="395650" y="1201600"/>
            <a:ext cx="3473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The Use Case Diagram defines the functional scope and user interactions of DeskSpot across two main actors: the </a:t>
            </a:r>
            <a:r>
              <a:rPr b="1" lang="en">
                <a:solidFill>
                  <a:schemeClr val="dk1"/>
                </a:solidFill>
              </a:rPr>
              <a:t>Employee</a:t>
            </a:r>
            <a:r>
              <a:rPr lang="en">
                <a:solidFill>
                  <a:schemeClr val="dk1"/>
                </a:solidFill>
              </a:rPr>
              <a:t> and the </a:t>
            </a:r>
            <a:r>
              <a:rPr b="1" lang="en">
                <a:solidFill>
                  <a:schemeClr val="dk1"/>
                </a:solidFill>
              </a:rPr>
              <a:t>Facility Manager</a:t>
            </a:r>
            <a:r>
              <a:rPr lang="en">
                <a:solidFill>
                  <a:schemeClr val="dk1"/>
                </a:solidFill>
              </a:rPr>
              <a:t>. The Employee interacts with the system to authenticate, filter and search available workspaces by date and time shift, reserve a specific desk, and check in on-site using a generated digital QR pass. Concurrently, the Facility Manager utilizes the administrative capabilities to monitor floor capacity and track real-time space utilization across the organization.</a:t>
            </a:r>
            <a:endParaRPr>
              <a:solidFill>
                <a:schemeClr val="dk1"/>
              </a:solidFill>
            </a:endParaRPr>
          </a:p>
          <a:p>
            <a:pPr indent="0" lvl="0" marL="0" rtl="0" algn="l">
              <a:spcBef>
                <a:spcPts val="0"/>
              </a:spcBef>
              <a:spcAft>
                <a:spcPts val="0"/>
              </a:spcAft>
              <a:buNone/>
            </a:pPr>
            <a:r>
              <a:rPr lang="en">
                <a:solidFill>
                  <a:schemeClr val="dk1"/>
                </a:solidFill>
              </a:rPr>
              <a:t>The </a:t>
            </a:r>
            <a:r>
              <a:rPr b="1" lang="en">
                <a:solidFill>
                  <a:schemeClr val="dk1"/>
                </a:solidFill>
              </a:rPr>
              <a:t>Email Gateway </a:t>
            </a:r>
            <a:r>
              <a:rPr lang="en">
                <a:solidFill>
                  <a:schemeClr val="dk1"/>
                </a:solidFill>
              </a:rPr>
              <a:t>is a third party system to send notification.</a:t>
            </a:r>
            <a:r>
              <a:rPr lang="en">
                <a:solidFill>
                  <a:schemeClr val="dk1"/>
                </a:solidFill>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Activity Diagram</a:t>
            </a:r>
            <a:endParaRPr/>
          </a:p>
        </p:txBody>
      </p:sp>
      <p:pic>
        <p:nvPicPr>
          <p:cNvPr id="73" name="Google Shape;73;p16" title="Activity Diagram.drawio.png"/>
          <p:cNvPicPr preferRelativeResize="0"/>
          <p:nvPr/>
        </p:nvPicPr>
        <p:blipFill>
          <a:blip r:embed="rId3">
            <a:alphaModFix/>
          </a:blip>
          <a:stretch>
            <a:fillRect/>
          </a:stretch>
        </p:blipFill>
        <p:spPr>
          <a:xfrm>
            <a:off x="5189600" y="54150"/>
            <a:ext cx="3422371" cy="5035203"/>
          </a:xfrm>
          <a:prstGeom prst="rect">
            <a:avLst/>
          </a:prstGeom>
          <a:noFill/>
          <a:ln>
            <a:noFill/>
          </a:ln>
        </p:spPr>
      </p:pic>
      <p:sp>
        <p:nvSpPr>
          <p:cNvPr id="74" name="Google Shape;74;p16"/>
          <p:cNvSpPr txBox="1"/>
          <p:nvPr/>
        </p:nvSpPr>
        <p:spPr>
          <a:xfrm>
            <a:off x="498250" y="1164275"/>
            <a:ext cx="3883200" cy="337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1F1F1F"/>
                </a:solidFill>
              </a:rPr>
              <a:t>The Activity Diagram models the step-by-step operational workflow and decision logic of the desk reservation process. It captures the flow from the moment an employee selects a target desk and time slot, through the backend validation checks—such as executing time-slot availability checks—to the final branching logic. If a scheduling conflict or lock failure occurs, the workflow routes to an error handling path; otherwise, it proceeds through transaction commit, booking confirmation, and QR pass generation, ending with the user's physical check-in at the terminal.</a:t>
            </a:r>
            <a:endParaRPr>
              <a:solidFill>
                <a:srgbClr val="1F1F1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Flow Diagram</a:t>
            </a:r>
            <a:endParaRPr/>
          </a:p>
        </p:txBody>
      </p:sp>
      <p:pic>
        <p:nvPicPr>
          <p:cNvPr id="80" name="Google Shape;80;p17" title="Data Flow Diagram.drawio.png"/>
          <p:cNvPicPr preferRelativeResize="0"/>
          <p:nvPr/>
        </p:nvPicPr>
        <p:blipFill>
          <a:blip r:embed="rId3">
            <a:alphaModFix/>
          </a:blip>
          <a:stretch>
            <a:fillRect/>
          </a:stretch>
        </p:blipFill>
        <p:spPr>
          <a:xfrm>
            <a:off x="152400" y="1169275"/>
            <a:ext cx="8839204" cy="1251645"/>
          </a:xfrm>
          <a:prstGeom prst="rect">
            <a:avLst/>
          </a:prstGeom>
          <a:noFill/>
          <a:ln>
            <a:noFill/>
          </a:ln>
        </p:spPr>
      </p:pic>
      <p:sp>
        <p:nvSpPr>
          <p:cNvPr id="81" name="Google Shape;81;p17"/>
          <p:cNvSpPr txBox="1"/>
          <p:nvPr/>
        </p:nvSpPr>
        <p:spPr>
          <a:xfrm>
            <a:off x="152400" y="2769575"/>
            <a:ext cx="88392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1F1F1F"/>
                </a:solidFill>
              </a:rPr>
              <a:t>The Data Flow Diagram (DFD) maps the movement of data through DeskSpot, illustrating how information transitions between external entities, system processes, and persistent data stores. It tracks input data—such as user credentials, search parameters, and reservation requests—as it flows from the client interface into core processing nodes like the </a:t>
            </a:r>
            <a:r>
              <a:rPr b="1" lang="en">
                <a:solidFill>
                  <a:srgbClr val="1F1F1F"/>
                </a:solidFill>
              </a:rPr>
              <a:t>Auth Manager</a:t>
            </a:r>
            <a:r>
              <a:rPr lang="en">
                <a:solidFill>
                  <a:srgbClr val="1F1F1F"/>
                </a:solidFill>
              </a:rPr>
              <a:t>, </a:t>
            </a:r>
            <a:r>
              <a:rPr b="1" lang="en">
                <a:solidFill>
                  <a:srgbClr val="1F1F1F"/>
                </a:solidFill>
              </a:rPr>
              <a:t>Availability Engine</a:t>
            </a:r>
            <a:r>
              <a:rPr lang="en">
                <a:solidFill>
                  <a:srgbClr val="1F1F1F"/>
                </a:solidFill>
              </a:rPr>
              <a:t>, and </a:t>
            </a:r>
            <a:r>
              <a:rPr b="1" lang="en">
                <a:solidFill>
                  <a:srgbClr val="1F1F1F"/>
                </a:solidFill>
              </a:rPr>
              <a:t>Booking Processor</a:t>
            </a:r>
            <a:r>
              <a:rPr lang="en">
                <a:solidFill>
                  <a:srgbClr val="1F1F1F"/>
                </a:solidFill>
              </a:rPr>
              <a:t>. These processes transform the inputs, interact with backend data stores (</a:t>
            </a:r>
            <a:r>
              <a:rPr lang="en">
                <a:solidFill>
                  <a:srgbClr val="188038"/>
                </a:solidFill>
                <a:highlight>
                  <a:srgbClr val="F2F0F0"/>
                </a:highlight>
              </a:rPr>
              <a:t>Users</a:t>
            </a:r>
            <a:r>
              <a:rPr lang="en">
                <a:solidFill>
                  <a:srgbClr val="1F1F1F"/>
                </a:solidFill>
              </a:rPr>
              <a:t>, </a:t>
            </a:r>
            <a:r>
              <a:rPr lang="en">
                <a:solidFill>
                  <a:srgbClr val="188038"/>
                </a:solidFill>
                <a:highlight>
                  <a:srgbClr val="F2F0F0"/>
                </a:highlight>
              </a:rPr>
              <a:t>Desks</a:t>
            </a:r>
            <a:r>
              <a:rPr lang="en">
                <a:solidFill>
                  <a:srgbClr val="1F1F1F"/>
                </a:solidFill>
              </a:rPr>
              <a:t>, </a:t>
            </a:r>
            <a:r>
              <a:rPr lang="en">
                <a:solidFill>
                  <a:srgbClr val="188038"/>
                </a:solidFill>
                <a:highlight>
                  <a:srgbClr val="F2F0F0"/>
                </a:highlight>
              </a:rPr>
              <a:t>Bookings</a:t>
            </a:r>
            <a:r>
              <a:rPr lang="en">
                <a:solidFill>
                  <a:srgbClr val="1F1F1F"/>
                </a:solidFill>
              </a:rPr>
              <a:t>), and emit structured output data, including real-time availability matrices, transaction confirmation statuses, and signed QR access passes back to the user.</a:t>
            </a:r>
            <a:endParaRPr>
              <a:solidFill>
                <a:srgbClr val="1F1F1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Diagram</a:t>
            </a:r>
            <a:endParaRPr/>
          </a:p>
        </p:txBody>
      </p:sp>
      <p:pic>
        <p:nvPicPr>
          <p:cNvPr id="87" name="Google Shape;87;p18" title="Class Diagram.drawio.png"/>
          <p:cNvPicPr preferRelativeResize="0"/>
          <p:nvPr/>
        </p:nvPicPr>
        <p:blipFill>
          <a:blip r:embed="rId3">
            <a:alphaModFix/>
          </a:blip>
          <a:stretch>
            <a:fillRect/>
          </a:stretch>
        </p:blipFill>
        <p:spPr>
          <a:xfrm>
            <a:off x="3777425" y="1017738"/>
            <a:ext cx="5181400" cy="3820976"/>
          </a:xfrm>
          <a:prstGeom prst="rect">
            <a:avLst/>
          </a:prstGeom>
          <a:noFill/>
          <a:ln>
            <a:noFill/>
          </a:ln>
        </p:spPr>
      </p:pic>
      <p:sp>
        <p:nvSpPr>
          <p:cNvPr id="88" name="Google Shape;88;p18"/>
          <p:cNvSpPr txBox="1"/>
          <p:nvPr/>
        </p:nvSpPr>
        <p:spPr>
          <a:xfrm>
            <a:off x="311700" y="1206013"/>
            <a:ext cx="35283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The Class Diagram captures the core business concepts, entities, and structural relationships of the DeskSpot system independently of software implementation details. It defines real-world domain entities like </a:t>
            </a:r>
            <a:r>
              <a:rPr lang="en">
                <a:solidFill>
                  <a:srgbClr val="188038"/>
                </a:solidFill>
                <a:latin typeface="Roboto Mono"/>
                <a:ea typeface="Roboto Mono"/>
                <a:cs typeface="Roboto Mono"/>
                <a:sym typeface="Roboto Mono"/>
              </a:rPr>
              <a:t>User</a:t>
            </a:r>
            <a:r>
              <a:rPr lang="en">
                <a:solidFill>
                  <a:schemeClr val="dk1"/>
                </a:solidFill>
              </a:rPr>
              <a:t>, </a:t>
            </a:r>
            <a:r>
              <a:rPr lang="en">
                <a:solidFill>
                  <a:srgbClr val="188038"/>
                </a:solidFill>
                <a:latin typeface="Roboto Mono"/>
                <a:ea typeface="Roboto Mono"/>
                <a:cs typeface="Roboto Mono"/>
                <a:sym typeface="Roboto Mono"/>
              </a:rPr>
              <a:t>Desk</a:t>
            </a:r>
            <a:r>
              <a:rPr lang="en">
                <a:solidFill>
                  <a:schemeClr val="dk1"/>
                </a:solidFill>
              </a:rPr>
              <a:t>, </a:t>
            </a:r>
            <a:r>
              <a:rPr lang="en">
                <a:solidFill>
                  <a:srgbClr val="188038"/>
                </a:solidFill>
                <a:latin typeface="Roboto Mono"/>
                <a:ea typeface="Roboto Mono"/>
                <a:cs typeface="Roboto Mono"/>
                <a:sym typeface="Roboto Mono"/>
              </a:rPr>
              <a:t>Floor</a:t>
            </a:r>
            <a:r>
              <a:rPr lang="en">
                <a:solidFill>
                  <a:schemeClr val="dk1"/>
                </a:solidFill>
              </a:rPr>
              <a:t>, </a:t>
            </a:r>
            <a:r>
              <a:rPr lang="en">
                <a:solidFill>
                  <a:srgbClr val="188038"/>
                </a:solidFill>
                <a:latin typeface="Roboto Mono"/>
                <a:ea typeface="Roboto Mono"/>
                <a:cs typeface="Roboto Mono"/>
                <a:sym typeface="Roboto Mono"/>
              </a:rPr>
              <a:t>Booking</a:t>
            </a:r>
            <a:r>
              <a:rPr lang="en">
                <a:solidFill>
                  <a:schemeClr val="dk1"/>
                </a:solidFill>
              </a:rPr>
              <a:t>, and </a:t>
            </a:r>
            <a:r>
              <a:rPr lang="en">
                <a:solidFill>
                  <a:srgbClr val="188038"/>
                </a:solidFill>
                <a:latin typeface="Roboto Mono"/>
                <a:ea typeface="Roboto Mono"/>
                <a:cs typeface="Roboto Mono"/>
                <a:sym typeface="Roboto Mono"/>
              </a:rPr>
              <a:t>CheckIn</a:t>
            </a:r>
            <a:r>
              <a:rPr lang="en">
                <a:solidFill>
                  <a:schemeClr val="dk1"/>
                </a:solidFill>
              </a:rPr>
              <a:t>, establishing their attributes, business rules, and relative cardinalities—such as an </a:t>
            </a:r>
            <a:r>
              <a:rPr lang="en">
                <a:solidFill>
                  <a:srgbClr val="188038"/>
                </a:solidFill>
                <a:latin typeface="Roboto Mono"/>
                <a:ea typeface="Roboto Mono"/>
                <a:cs typeface="Roboto Mono"/>
                <a:sym typeface="Roboto Mono"/>
              </a:rPr>
              <a:t>Employee</a:t>
            </a:r>
            <a:r>
              <a:rPr lang="en">
                <a:solidFill>
                  <a:schemeClr val="dk1"/>
                </a:solidFill>
              </a:rPr>
              <a:t> holding multiple </a:t>
            </a:r>
            <a:r>
              <a:rPr lang="en">
                <a:solidFill>
                  <a:srgbClr val="188038"/>
                </a:solidFill>
                <a:latin typeface="Roboto Mono"/>
                <a:ea typeface="Roboto Mono"/>
                <a:cs typeface="Roboto Mono"/>
                <a:sym typeface="Roboto Mono"/>
              </a:rPr>
              <a:t>Bookings</a:t>
            </a:r>
            <a:r>
              <a:rPr lang="en">
                <a:solidFill>
                  <a:schemeClr val="dk1"/>
                </a:solidFill>
              </a:rPr>
              <a:t>, or a </a:t>
            </a:r>
            <a:r>
              <a:rPr lang="en">
                <a:solidFill>
                  <a:srgbClr val="188038"/>
                </a:solidFill>
                <a:latin typeface="Roboto Mono"/>
                <a:ea typeface="Roboto Mono"/>
                <a:cs typeface="Roboto Mono"/>
                <a:sym typeface="Roboto Mono"/>
              </a:rPr>
              <a:t>Floor</a:t>
            </a:r>
            <a:r>
              <a:rPr lang="en">
                <a:solidFill>
                  <a:schemeClr val="dk1"/>
                </a:solidFill>
              </a:rPr>
              <a:t> containing multiple </a:t>
            </a:r>
            <a:r>
              <a:rPr lang="en">
                <a:solidFill>
                  <a:srgbClr val="188038"/>
                </a:solidFill>
                <a:latin typeface="Roboto Mono"/>
                <a:ea typeface="Roboto Mono"/>
                <a:cs typeface="Roboto Mono"/>
                <a:sym typeface="Roboto Mono"/>
              </a:rPr>
              <a:t>Desks</a:t>
            </a:r>
            <a:r>
              <a:rPr lang="en">
                <a:solidFill>
                  <a:schemeClr val="dk1"/>
                </a:solidFill>
              </a:rPr>
              <a:t>. By mapping these domain concepts early on, it establishes a shared domain language and lays the foundation for transforming business requirements into the downstream relational database schema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 Diagram (Crowbar Notion)</a:t>
            </a:r>
            <a:endParaRPr/>
          </a:p>
        </p:txBody>
      </p:sp>
      <p:pic>
        <p:nvPicPr>
          <p:cNvPr id="94" name="Google Shape;94;p19" title="ER Diagram.drawio.png"/>
          <p:cNvPicPr preferRelativeResize="0"/>
          <p:nvPr/>
        </p:nvPicPr>
        <p:blipFill>
          <a:blip r:embed="rId3">
            <a:alphaModFix/>
          </a:blip>
          <a:stretch>
            <a:fillRect/>
          </a:stretch>
        </p:blipFill>
        <p:spPr>
          <a:xfrm>
            <a:off x="4899125" y="68850"/>
            <a:ext cx="2536901" cy="4922251"/>
          </a:xfrm>
          <a:prstGeom prst="rect">
            <a:avLst/>
          </a:prstGeom>
          <a:noFill/>
          <a:ln>
            <a:noFill/>
          </a:ln>
        </p:spPr>
      </p:pic>
      <p:sp>
        <p:nvSpPr>
          <p:cNvPr id="95" name="Google Shape;95;p19"/>
          <p:cNvSpPr txBox="1"/>
          <p:nvPr/>
        </p:nvSpPr>
        <p:spPr>
          <a:xfrm>
            <a:off x="493125" y="1500950"/>
            <a:ext cx="42351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The Entity-Relationship Diagram (ERD) translates the high-level domain model into a concrete, relational database schema hosted on PostgreSQL. It explicitly defines table structures, data types, primary and foreign key constraints, and relational cardinalities between core entities like </a:t>
            </a:r>
            <a:r>
              <a:rPr lang="en">
                <a:solidFill>
                  <a:srgbClr val="188038"/>
                </a:solidFill>
                <a:latin typeface="Roboto Mono"/>
                <a:ea typeface="Roboto Mono"/>
                <a:cs typeface="Roboto Mono"/>
                <a:sym typeface="Roboto Mono"/>
              </a:rPr>
              <a:t>USERS</a:t>
            </a:r>
            <a:r>
              <a:rPr lang="en">
                <a:solidFill>
                  <a:schemeClr val="dk1"/>
                </a:solidFill>
              </a:rPr>
              <a:t>, </a:t>
            </a:r>
            <a:r>
              <a:rPr lang="en">
                <a:solidFill>
                  <a:srgbClr val="188038"/>
                </a:solidFill>
                <a:latin typeface="Roboto Mono"/>
                <a:ea typeface="Roboto Mono"/>
                <a:cs typeface="Roboto Mono"/>
                <a:sym typeface="Roboto Mono"/>
              </a:rPr>
              <a:t>DESKS</a:t>
            </a:r>
            <a:r>
              <a:rPr lang="en">
                <a:solidFill>
                  <a:schemeClr val="dk1"/>
                </a:solidFill>
              </a:rPr>
              <a:t>, </a:t>
            </a:r>
            <a:r>
              <a:rPr lang="en">
                <a:solidFill>
                  <a:srgbClr val="188038"/>
                </a:solidFill>
                <a:latin typeface="Roboto Mono"/>
                <a:ea typeface="Roboto Mono"/>
                <a:cs typeface="Roboto Mono"/>
                <a:sym typeface="Roboto Mono"/>
              </a:rPr>
              <a:t>BOOKINGS</a:t>
            </a:r>
            <a:r>
              <a:rPr lang="en">
                <a:solidFill>
                  <a:schemeClr val="dk1"/>
                </a:solidFill>
              </a:rPr>
              <a:t>, and </a:t>
            </a:r>
            <a:r>
              <a:rPr lang="en">
                <a:solidFill>
                  <a:srgbClr val="188038"/>
                </a:solidFill>
                <a:latin typeface="Roboto Mono"/>
                <a:ea typeface="Roboto Mono"/>
                <a:cs typeface="Roboto Mono"/>
                <a:sym typeface="Roboto Mono"/>
              </a:rPr>
              <a:t>CHECK_INS</a:t>
            </a:r>
            <a:r>
              <a:rPr lang="en">
                <a:solidFill>
                  <a:schemeClr val="dk1"/>
                </a:solidFill>
              </a:rPr>
              <a:t>. Crucially, the schema enforces integrity constraints at the data layer—such as cascade rules, unique indexes, and time-range bounds—ensuring that business rules are strictly maintained at the relational level before application logic even interacts with the stored records.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Sequence Diagram</a:t>
            </a:r>
            <a:endParaRPr/>
          </a:p>
        </p:txBody>
      </p:sp>
      <p:pic>
        <p:nvPicPr>
          <p:cNvPr id="101" name="Google Shape;101;p20" title="Sequence Diagram.drawio.png"/>
          <p:cNvPicPr preferRelativeResize="0"/>
          <p:nvPr/>
        </p:nvPicPr>
        <p:blipFill>
          <a:blip r:embed="rId3">
            <a:alphaModFix/>
          </a:blip>
          <a:stretch>
            <a:fillRect/>
          </a:stretch>
        </p:blipFill>
        <p:spPr>
          <a:xfrm>
            <a:off x="1915900" y="1170150"/>
            <a:ext cx="4805521"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Deployment Diagram</a:t>
            </a:r>
            <a:endParaRPr/>
          </a:p>
        </p:txBody>
      </p:sp>
      <p:pic>
        <p:nvPicPr>
          <p:cNvPr id="107" name="Google Shape;107;p21" title="Deployment Diagram.drawio.png"/>
          <p:cNvPicPr preferRelativeResize="0"/>
          <p:nvPr/>
        </p:nvPicPr>
        <p:blipFill>
          <a:blip r:embed="rId3">
            <a:alphaModFix/>
          </a:blip>
          <a:stretch>
            <a:fillRect/>
          </a:stretch>
        </p:blipFill>
        <p:spPr>
          <a:xfrm>
            <a:off x="4367900" y="920650"/>
            <a:ext cx="3585997" cy="3820977"/>
          </a:xfrm>
          <a:prstGeom prst="rect">
            <a:avLst/>
          </a:prstGeom>
          <a:noFill/>
          <a:ln>
            <a:noFill/>
          </a:ln>
        </p:spPr>
      </p:pic>
      <p:sp>
        <p:nvSpPr>
          <p:cNvPr id="108" name="Google Shape;108;p21"/>
          <p:cNvSpPr txBox="1"/>
          <p:nvPr/>
        </p:nvSpPr>
        <p:spPr>
          <a:xfrm>
            <a:off x="424375" y="1131675"/>
            <a:ext cx="2999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The deployment diagram describes an idealized implementation and </a:t>
            </a:r>
            <a:r>
              <a:rPr lang="en">
                <a:solidFill>
                  <a:schemeClr val="dk2"/>
                </a:solidFill>
              </a:rPr>
              <a:t>deployment</a:t>
            </a:r>
            <a:r>
              <a:rPr lang="en">
                <a:solidFill>
                  <a:schemeClr val="dk2"/>
                </a:solidFill>
              </a:rPr>
              <a:t> of the system.</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